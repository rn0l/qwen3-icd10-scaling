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45720"/>
            <a:ext cx="1188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200" b="1">
                <a:solidFill>
                  <a:srgbClr val="E6E9EC"/>
                </a:solidFill>
                <a:latin typeface="Helvetica Neue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9601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8590C"/>
                </a:solidFill>
                <a:latin typeface="Helvetica Neue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3200" b="1" i="0">
                <a:solidFill>
                  <a:srgbClr val="15171A"/>
                </a:solidFill>
                <a:latin typeface="Helvetica Neue"/>
              </a:rPr>
              <a:t>Can a clinic afford to run its own ICD-10 model?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64208"/>
            <a:ext cx="5120640" cy="1966955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01952"/>
            <a:ext cx="4645152" cy="2514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15171A"/>
                </a:solidFill>
                <a:latin typeface="Helvetica Neue"/>
              </a:rPr>
              <a:t>Dr. Findus, our startup in Berlin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44852"/>
            <a:ext cx="4645152" cy="12151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5171A"/>
                </a:solidFill>
                <a:latin typeface="Helvetica Neue"/>
              </a:rPr>
              <a:t>German GPs code every consultation.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5171A"/>
                </a:solidFill>
                <a:latin typeface="Helvetica Neue"/>
              </a:rPr>
              <a:t>We propose, the physician confirms.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5171A"/>
                </a:solidFill>
                <a:latin typeface="Helvetica Neue"/>
              </a:rPr>
              <a:t>Reliability is the product.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5171A"/>
                </a:solidFill>
                <a:latin typeface="Helvetica Neue"/>
              </a:rPr>
              <a:t>Today it runs on hosted APIs.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89320" y="1755648"/>
            <a:ext cx="5623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E8590C"/>
                </a:solidFill>
                <a:latin typeface="Helvetica Neue"/>
              </a:rPr>
              <a:t>Could it run on</a:t>
            </a:r>
          </a:p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E8590C"/>
                </a:solidFill>
                <a:latin typeface="Helvetica Neue"/>
              </a:rPr>
              <a:t>our own hardware?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89320" y="2761488"/>
            <a:ext cx="56235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Qwen3-4B + LoRA on CodiEsp: 500 train / 250 dev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Spanish case reports, ICD-10 coded, CC-BY 4.0.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730752"/>
            <a:ext cx="5394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8590C"/>
                </a:solidFill>
                <a:latin typeface="Helvetica Neue"/>
              </a:rPr>
              <a:t>The resource problem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096512"/>
            <a:ext cx="53949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15171A"/>
                </a:solidFill>
                <a:latin typeface="Helvetica Neue"/>
              </a:rPr>
              <a:t>8 GB of weights at 4B before a single activation.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15171A"/>
                </a:solidFill>
                <a:latin typeface="Helvetica Neue"/>
              </a:rPr>
              <a:t>Median case 802 tokens, longest 2,489.</a:t>
            </a:r>
          </a:p>
          <a:p>
            <a:pPr algn="l">
              <a:spcAft>
                <a:spcPts val="900"/>
              </a:spcAft>
            </a:pPr>
            <a:r>
              <a:rPr sz="1500" b="0" i="0">
                <a:solidFill>
                  <a:srgbClr val="15171A"/>
                </a:solidFill>
                <a:latin typeface="Helvetica Neue"/>
              </a:rPr>
              <a:t>One JAX program, lowered by XLA to CPU, GPU and TPU.</a:t>
            </a:r>
          </a:p>
        </p:txBody>
      </p:sp>
      <p:pic>
        <p:nvPicPr>
          <p:cNvPr id="13" name="Picture 12" descr="slide1-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3675887"/>
            <a:ext cx="5669280" cy="163994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5870448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200" b="1" i="0">
                <a:solidFill>
                  <a:srgbClr val="15171A"/>
                </a:solidFill>
                <a:latin typeface="Helvetica Neue"/>
              </a:rPr>
              <a:t>Where does the time go, and what does it take to run this at all?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45720"/>
            <a:ext cx="1188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200" b="1">
                <a:solidFill>
                  <a:srgbClr val="E6E9EC"/>
                </a:solidFill>
                <a:latin typeface="Helvetica Neue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9601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8590C"/>
                </a:solidFill>
                <a:latin typeface="Helvetica Neue"/>
              </a:rPr>
              <a:t>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3200" b="1" i="0">
                <a:solidFill>
                  <a:srgbClr val="15171A"/>
                </a:solidFill>
                <a:latin typeface="Helvetica Neue"/>
              </a:rPr>
              <a:t>One program. Three backends. All measured.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45920"/>
            <a:ext cx="3520440" cy="1669267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83664"/>
            <a:ext cx="3044952" cy="2682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E8590C"/>
                </a:solidFill>
                <a:latin typeface="Helvetica Neue"/>
              </a:rPr>
              <a:t>Compilation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43328"/>
            <a:ext cx="3044952" cy="90068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One JAX program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XLA lowers it to all three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LoRA via qwix, Tunix trainer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1688" y="1645920"/>
            <a:ext cx="3520440" cy="1669267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883664"/>
            <a:ext cx="3044952" cy="2682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E8590C"/>
                </a:solidFill>
                <a:latin typeface="Helvetica Neue"/>
              </a:rPr>
              <a:t>Orchestration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243328"/>
            <a:ext cx="3044952" cy="90068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3 pinned Docker images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Kubernetes across 2 clusters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Kueue admission, explicit limits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56448" y="1645920"/>
            <a:ext cx="3520440" cy="1669267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1883664"/>
            <a:ext cx="3044952" cy="2682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E8590C"/>
                </a:solidFill>
                <a:latin typeface="Helvetica Neue"/>
              </a:rPr>
              <a:t>Storage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243328"/>
            <a:ext cx="3044952" cy="90068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gcsfuse CSI, implicit-dirs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8 GB checkpoint from a bucket</a:t>
            </a:r>
          </a:p>
          <a:p>
            <a:pPr algn="l">
              <a:spcAft>
                <a:spcPts val="7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File cache left as a knob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93008"/>
            <a:ext cx="11064240" cy="6035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FB92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639312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15171A"/>
                </a:solidFill>
                <a:latin typeface="Helvetica Neue"/>
              </a:rPr>
              <a:t>gs://me344-tpu-labs-west4   →   gcsfuse CSI sidecar   →   /gcs in the pod   →   8 GB checkpoint   →   HBM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66928" y="4315968"/>
          <a:ext cx="11064238" cy="14996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749039"/>
                <a:gridCol w="2194560"/>
                <a:gridCol w="3749039"/>
              </a:tblGrid>
              <a:tr h="374904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Backend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Hardware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Host arch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How the code got there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CPU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32-core x86_64, 31 GiB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x86_64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bare node, podman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GPU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NVIDIA GH200 480 GB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ARM64 Grace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public image + ConfigMap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TPU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v5e 2×4, 8 chips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x86_64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private registry + gcsfuse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566928" y="59893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E8590C"/>
                </a:solidFill>
                <a:latin typeface="Helvetica Neue"/>
              </a:rPr>
              <a:t>The GH200 host is ARM64. That one fact cost five separate blockers.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45720"/>
            <a:ext cx="1188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200" b="1">
                <a:solidFill>
                  <a:srgbClr val="E6E9EC"/>
                </a:solidFill>
                <a:latin typeface="Helvetica Neue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9601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8590C"/>
                </a:solidFill>
                <a:latin typeface="Helvetica Neue"/>
              </a:rPr>
              <a:t>MEASUREMENTS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3200" b="1" i="0">
                <a:solidFill>
                  <a:srgbClr val="15171A"/>
                </a:solidFill>
                <a:latin typeface="Helvetica Neue"/>
              </a:rPr>
              <a:t>We did not time the job. We took it apart.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4208"/>
          <a:ext cx="50292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306324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What we sample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Instrument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Chip utilisation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nvidia-smi 1 Hz · psutil on CPU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Peak memory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jax memory_stats() · peak RSS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Step time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median, p10, p90, warmup excluded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Wall clock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six phases, must sum to total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639312"/>
            <a:ext cx="5029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717A85"/>
                </a:solidFill>
                <a:latin typeface="Helvetica Neue"/>
              </a:rPr>
              <a:t>One schema, one JSON per run. Every figure in this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717A85"/>
                </a:solidFill>
                <a:latin typeface="Helvetica Neue"/>
              </a:rPr>
              <a:t>deck reads those files and nothing else.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4133087"/>
            <a:ext cx="5029200" cy="2021819"/>
          </a:xfrm>
          <a:prstGeom prst="roundRect">
            <a:avLst>
              <a:gd name="adj" fmla="val 4000"/>
            </a:avLst>
          </a:prstGeom>
          <a:solidFill>
            <a:srgbClr val="FEF2F2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370831"/>
            <a:ext cx="4553712" cy="2514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DC2626"/>
                </a:solidFill>
                <a:latin typeface="Helvetica Neue"/>
              </a:rPr>
              <a:t>The schema caught a lie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713731"/>
            <a:ext cx="4553712" cy="127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>93 µs per step. 11 M tokens/s. Impossible,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>yet it carried status "ok".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>Its own notes admitted it may have timed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>dispatch, not completion. Discarded and re-run.</a:t>
            </a:r>
          </a:p>
        </p:txBody>
      </p:sp>
      <p:pic>
        <p:nvPicPr>
          <p:cNvPr id="11" name="Picture 10" descr="slide3-wall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627632"/>
            <a:ext cx="5760720" cy="1827189"/>
          </a:xfrm>
          <a:prstGeom prst="rect">
            <a:avLst/>
          </a:prstGeom>
        </p:spPr>
      </p:pic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852160" y="3710852"/>
          <a:ext cx="57607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788920"/>
                <a:gridCol w="150876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 Neue"/>
                        </a:rPr>
                        <a:t>Backend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 Neue"/>
                        </a:rPr>
                        <a:t>Peak memory, largest fitting run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 Neue"/>
                        </a:rPr>
                        <a:t>Next step up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CPU 32-core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66.1 % of 31 GiB (RSS)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4B never ran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GH200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67.8 % of 96 GiB HBM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batch 64 OOM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v5e, 8 chips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65.5 % of 16 GiB/chip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batch 32 OOM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852160" y="5301908"/>
            <a:ext cx="5760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E8590C"/>
                </a:solidFill>
                <a:latin typeface="Helvetica Neue"/>
              </a:rPr>
              <a:t>Memory is what ends every sweep. One batch step past</a:t>
            </a:r>
          </a:p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E8590C"/>
                </a:solidFill>
                <a:latin typeface="Helvetica Neue"/>
              </a:rPr>
              <a:t>these numbers, all three fail.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45720"/>
            <a:ext cx="1188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200" b="1">
                <a:solidFill>
                  <a:srgbClr val="E6E9EC"/>
                </a:solidFill>
                <a:latin typeface="Helvetica Neue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9601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8590C"/>
                </a:solidFill>
                <a:latin typeface="Helvetica Neue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3200" b="1" i="0">
                <a:solidFill>
                  <a:srgbClr val="15171A"/>
                </a:solidFill>
                <a:latin typeface="Helvetica Neue"/>
              </a:rPr>
              <a:t>Under load, one GH200 beats eight TPU chips.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591056"/>
          <a:ext cx="6903720" cy="1714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/>
                <a:gridCol w="1554480"/>
                <a:gridCol w="1554480"/>
                <a:gridCol w="1554480"/>
              </a:tblGrid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Qwen3-0.6B, batch 1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CPU 32-core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GH200  1 chip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v5e  8 chips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Median step time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18.99 s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0.0798 s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0.0800 s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Speedup vs CPU</a:t>
                      </a:r>
                    </a:p>
                  </a:txBody>
                  <a:tcPr anchor="ctr" marL="82296" marR="82296" marT="9144" marB="9144">
                    <a:solidFill>
                      <a:srgbClr val="FE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1.0×</a:t>
                      </a:r>
                    </a:p>
                  </a:txBody>
                  <a:tcPr anchor="ctr" marL="82296" marR="82296" marT="9144" marB="9144">
                    <a:solidFill>
                      <a:srgbClr val="FE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238×</a:t>
                      </a:r>
                    </a:p>
                  </a:txBody>
                  <a:tcPr anchor="ctr" marL="82296" marR="82296" marT="9144" marB="9144">
                    <a:solidFill>
                      <a:srgbClr val="FE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237×</a:t>
                      </a:r>
                    </a:p>
                  </a:txBody>
                  <a:tcPr anchor="ctr" marL="82296" marR="82296" marT="9144" marB="9144">
                    <a:solidFill>
                      <a:srgbClr val="FEF3EA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Mean chip utilisation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44.3 %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1.59 %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no counter exists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Peak memory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66.1 %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5.0 %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7.3 %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433572"/>
            <a:ext cx="6903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50" b="1" i="0">
                <a:solidFill>
                  <a:srgbClr val="15171A"/>
                </a:solidFill>
                <a:latin typeface="Helvetica Neue"/>
              </a:rPr>
              <a:t>Both accelerators are ~238× the CPU and tie with each other to 0.23 %.</a:t>
            </a:r>
          </a:p>
          <a:p>
            <a:pPr algn="l">
              <a:spcAft>
                <a:spcPts val="300"/>
              </a:spcAft>
            </a:pPr>
            <a:r>
              <a:rPr sz="1450" b="1" i="0">
                <a:solidFill>
                  <a:srgbClr val="15171A"/>
                </a:solidFill>
                <a:latin typeface="Helvetica Neue"/>
              </a:rPr>
              <a:t>At batch 1 neither is busy. That tie is an artefact.</a:t>
            </a:r>
          </a:p>
        </p:txBody>
      </p:sp>
      <p:pic>
        <p:nvPicPr>
          <p:cNvPr id="8" name="Picture 7" descr="slide4-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4041648"/>
            <a:ext cx="6903720" cy="187718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26679" y="1591056"/>
            <a:ext cx="38862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5200" b="1" i="0">
                <a:solidFill>
                  <a:srgbClr val="E8590C"/>
                </a:solidFill>
                <a:latin typeface="Helvetica Neue"/>
              </a:rPr>
              <a:t>2.7x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44967" y="2249424"/>
            <a:ext cx="3886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717A85"/>
                </a:solidFill>
                <a:latin typeface="Helvetica Neue"/>
              </a:rPr>
              <a:t>the throughput of an eight-chip v5e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717A85"/>
                </a:solidFill>
                <a:latin typeface="Helvetica Neue"/>
              </a:rPr>
              <a:t>slice, from a single Hopper chip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26679" y="3218688"/>
            <a:ext cx="3886200" cy="1275567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82711" y="3456432"/>
            <a:ext cx="3410712" cy="2346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8590C"/>
                </a:solidFill>
                <a:latin typeface="Helvetica Neue"/>
              </a:rPr>
              <a:t>Memory 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82711" y="3782568"/>
            <a:ext cx="3410712" cy="5405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15171A"/>
                </a:solidFill>
                <a:latin typeface="Helvetica Neue"/>
              </a:rPr>
              <a:t>GH200 fails between 32 and 64</a:t>
            </a:r>
          </a:p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15171A"/>
                </a:solidFill>
                <a:latin typeface="Helvetica Neue"/>
              </a:rPr>
              <a:t>v5e fails between 16 and 32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679" y="4590288"/>
            <a:ext cx="3886200" cy="1732767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82711" y="4828032"/>
            <a:ext cx="3410712" cy="2346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8590C"/>
                </a:solidFill>
                <a:latin typeface="Helvetica Neue"/>
              </a:rPr>
              <a:t>The mitigation, controlled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82711" y="5154168"/>
            <a:ext cx="3410712" cy="99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File cache on: checkpoint load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14.6× faster, 31 % off wall clock.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Median step time unchanged to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the fourth decimal.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45720"/>
            <a:ext cx="1188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200" b="1">
                <a:solidFill>
                  <a:srgbClr val="E6E9EC"/>
                </a:solidFill>
                <a:latin typeface="Helvetica Neue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9601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8590C"/>
                </a:solidFill>
                <a:latin typeface="Helvetica Neue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3200" b="1" i="0">
                <a:solidFill>
                  <a:srgbClr val="15171A"/>
                </a:solidFill>
                <a:latin typeface="Helvetica Neue"/>
              </a:rPr>
              <a:t>The chip was never the bottleneck.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45920"/>
            <a:ext cx="3520440" cy="2286000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73936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E8590C"/>
                </a:solidFill>
                <a:latin typeface="Helvetica Neue"/>
              </a:rPr>
              <a:t>28 %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40864"/>
            <a:ext cx="3063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5171A"/>
                </a:solidFill>
                <a:latin typeface="Helvetica Neue"/>
              </a:rPr>
              <a:t>of wall clock is arithmetic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70632"/>
            <a:ext cx="3063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Of 733 s, only 209 s computes.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The biggest single phase is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reading the checkpoint: 32 %.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1688" y="1645920"/>
            <a:ext cx="3520440" cy="2286000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1773936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5171A"/>
                </a:solidFill>
                <a:latin typeface="Helvetica Neue"/>
              </a:rPr>
              <a:t>6.7×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340864"/>
            <a:ext cx="3063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5171A"/>
                </a:solidFill>
                <a:latin typeface="Helvetica Neue"/>
              </a:rPr>
              <a:t>more parameters, CPU stopped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770632"/>
            <a:ext cx="3063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0.6B to 4B did not make the CPU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6.7× slower. XLA never finished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compiling; the kernel killed it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at 31.5 GB.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6448" y="1645920"/>
            <a:ext cx="3520440" cy="2286000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1773936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5171A"/>
                </a:solidFill>
                <a:latin typeface="Helvetica Neue"/>
              </a:rPr>
              <a:t>1 of 36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340864"/>
            <a:ext cx="3063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5171A"/>
                </a:solidFill>
                <a:latin typeface="Helvetica Neue"/>
              </a:rPr>
              <a:t>dependencies were TPU-bound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770632"/>
            <a:ext cx="3063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The GH200 sat idle behind an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ARM64 host, a QEMU segfault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and a registry 403. Swapping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one pin is the whole port.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224528"/>
            <a:ext cx="5394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E8590C"/>
                </a:solidFill>
                <a:latin typeface="Helvetica Neue"/>
              </a:rPr>
              <a:t>Scaling recommendation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572000"/>
            <a:ext cx="53949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Do not scale out. Amortise: raise batch only until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the chip is occupied, then attack fixed cost: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persistent compile caches, warm workers instead of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a pod per job, file cache on anything reading a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checkpoint.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4078224"/>
            <a:ext cx="5394960" cy="2392659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4315968"/>
            <a:ext cx="4919472" cy="2514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E8590C"/>
                </a:solidFill>
                <a:latin typeface="Helvetica Neue"/>
              </a:rPr>
              <a:t>What this means for Dr. Findus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4658868"/>
            <a:ext cx="4919472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>At batch 8, the slice's own best point: one GH200 runs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>2.5× faster than eight TPU chips and costs 10× less,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>$0.56 against $5.72 per 1,000 steps.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>Self-hosting is not the cost problem we assumed.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>The real cost is fixed overhead per job.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3952" y="6103620"/>
            <a:ext cx="4919472" cy="269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717A85"/>
                </a:solidFill>
                <a:latin typeface="Helvetica Neue"/>
              </a:rPr>
              <a:t>TPU rate billed; the GH200 rate is a market proxy.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382512"/>
            <a:ext cx="11064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100" b="0" i="0">
                <a:solidFill>
                  <a:srgbClr val="717A85"/>
                </a:solidFill>
                <a:latin typeface="Helvetica Neue"/>
              </a:rPr>
              <a:t>13 measured runs  ·  github.com/RN0L/me344-qwen3-icd10-profiling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
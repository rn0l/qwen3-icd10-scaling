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45720"/>
            <a:ext cx="1188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200" b="1">
                <a:solidFill>
                  <a:srgbClr val="E6E9EC"/>
                </a:solidFill>
                <a:latin typeface="Helvetica Neue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9601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8590C"/>
                </a:solidFill>
                <a:latin typeface="Helvetica Neue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3200" b="1" i="0">
                <a:solidFill>
                  <a:srgbClr val="15171A"/>
                </a:solidFill>
                <a:latin typeface="Helvetica Neue"/>
              </a:rPr>
              <a:t>Can a clinic afford to run its own coding model?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91640"/>
            <a:ext cx="5486400" cy="2148840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901952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15171A"/>
                </a:solidFill>
                <a:latin typeface="Helvetica Neue"/>
              </a:rPr>
              <a:t>Dr. Findus — our startup, Berlin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286000"/>
            <a:ext cx="50292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German GPs must code every consultation.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We read the note and propose the codes;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the physician confirms each one — a legal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requirement here. Reliability is the product: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over-coding is fraud exposure, not error.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783080"/>
            <a:ext cx="52120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5171A"/>
                </a:solidFill>
                <a:latin typeface="Helvetica Neue"/>
              </a:rPr>
              <a:t>Today that runs on hosted APIs.</a:t>
            </a:r>
          </a:p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5171A"/>
                </a:solidFill>
                <a:latin typeface="Helvetica Neue"/>
              </a:rPr>
              <a:t>Could it run on our own hardware?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606040"/>
            <a:ext cx="52120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An infrastructure question, not a model one —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so we built the workload and measured it.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Qwen3 + LoRA on CodiEsp: 1 000 clinical case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717A85"/>
                </a:solidFill>
                <a:latin typeface="Helvetica Neue"/>
              </a:rPr>
              <a:t>reports, ICD-10 labelled, CC-BY 4.0.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160520"/>
            <a:ext cx="27432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400" b="1" i="0">
                <a:solidFill>
                  <a:srgbClr val="E8590C"/>
                </a:solidFill>
                <a:latin typeface="Helvetica Neue"/>
              </a:rPr>
              <a:t>8 GB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818888"/>
            <a:ext cx="2743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717A85"/>
                </a:solidFill>
                <a:latin typeface="Helvetica Neue"/>
              </a:rPr>
              <a:t>of weights at 4B, before a single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717A85"/>
                </a:solidFill>
                <a:latin typeface="Helvetica Neue"/>
              </a:rPr>
              <a:t>activation exists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4160520"/>
            <a:ext cx="27432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400" b="1" i="0">
                <a:solidFill>
                  <a:srgbClr val="E8590C"/>
                </a:solidFill>
                <a:latin typeface="Helvetica Neue"/>
              </a:rPr>
              <a:t>2 489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4818888"/>
            <a:ext cx="2743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717A85"/>
                </a:solidFill>
                <a:latin typeface="Helvetica Neue"/>
              </a:rPr>
              <a:t>tokens in the longest case —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717A85"/>
                </a:solidFill>
                <a:latin typeface="Helvetica Neue"/>
              </a:rPr>
              <a:t>sequence length is not free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4160520"/>
            <a:ext cx="4846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400" b="1" i="0">
                <a:solidFill>
                  <a:srgbClr val="E8590C"/>
                </a:solidFill>
                <a:latin typeface="Helvetica Neue"/>
              </a:rPr>
              <a:t>3 backends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4818888"/>
            <a:ext cx="4846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717A85"/>
                </a:solidFill>
                <a:latin typeface="Helvetica Neue"/>
              </a:rPr>
              <a:t>CPU · GPU · TPU, one JAX program,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717A85"/>
                </a:solidFill>
                <a:latin typeface="Helvetica Neue"/>
              </a:rPr>
              <a:t>no per-backend reimplementation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8064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900" b="1" i="0">
                <a:solidFill>
                  <a:srgbClr val="E8590C"/>
                </a:solidFill>
                <a:latin typeface="Helvetica Neue"/>
              </a:rPr>
              <a:t>Where does the time actually go — and what does it take to run this at all?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2636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 i="1">
                <a:solidFill>
                  <a:srgbClr val="717A85"/>
                </a:solidFill>
                <a:latin typeface="Helvetica Neue"/>
              </a:rPr>
              <a:t>No patient data was used. Model accuracy earns no marks here — the object of study is the infrastructure.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45720"/>
            <a:ext cx="1188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200" b="1">
                <a:solidFill>
                  <a:srgbClr val="E6E9EC"/>
                </a:solidFill>
                <a:latin typeface="Helvetica Neue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9601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8590C"/>
                </a:solidFill>
                <a:latin typeface="Helvetica Neue"/>
              </a:rPr>
              <a:t>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3200" b="1" i="0">
                <a:solidFill>
                  <a:srgbClr val="15171A"/>
                </a:solidFill>
                <a:latin typeface="Helvetica Neue"/>
              </a:rPr>
              <a:t>One program. Three backends. All measured.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3520440" cy="2286000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6596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E8590C"/>
                </a:solidFill>
                <a:latin typeface="Helvetica Neue"/>
              </a:rPr>
              <a:t>Compilation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59152"/>
            <a:ext cx="30632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5171A"/>
                </a:solidFill>
                <a:latin typeface="Helvetica Neue"/>
              </a:rPr>
              <a:t>One JAX / Flax program.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5171A"/>
                </a:solidFill>
                <a:latin typeface="Helvetica Neue"/>
              </a:rPr>
              <a:t>XLA lowers it to CPU, CUDA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5171A"/>
                </a:solidFill>
                <a:latin typeface="Helvetica Neue"/>
              </a:rPr>
              <a:t>and TPU.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5171A"/>
                </a:solidFill>
                <a:latin typeface="Helvetica Neue"/>
              </a:rPr>
              <a:t>LoRA via qwix, training via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5171A"/>
                </a:solidFill>
                <a:latin typeface="Helvetica Neue"/>
              </a:rPr>
              <a:t>Tunix — no per-backend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5171A"/>
                </a:solidFill>
                <a:latin typeface="Helvetica Neue"/>
              </a:rPr>
              <a:t>reimplementation.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1688" y="1783080"/>
            <a:ext cx="3520440" cy="2286000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96596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E8590C"/>
                </a:solidFill>
                <a:latin typeface="Helvetica Neue"/>
              </a:rPr>
              <a:t>Orchestration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359152"/>
            <a:ext cx="30632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5171A"/>
                </a:solidFill>
                <a:latin typeface="Helvetica Neue"/>
              </a:rPr>
              <a:t>3 pinned Docker images.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5171A"/>
                </a:solidFill>
                <a:latin typeface="Helvetica Neue"/>
              </a:rPr>
              <a:t>Kubernetes Jobs across two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5171A"/>
                </a:solidFill>
                <a:latin typeface="Helvetica Neue"/>
              </a:rPr>
              <a:t>clusters.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5171A"/>
                </a:solidFill>
                <a:latin typeface="Helvetica Neue"/>
              </a:rPr>
              <a:t>Kueue admission on the TPU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5171A"/>
                </a:solidFill>
                <a:latin typeface="Helvetica Neue"/>
              </a:rPr>
              <a:t>pool. Every manifest states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5171A"/>
                </a:solidFill>
                <a:latin typeface="Helvetica Neue"/>
              </a:rPr>
              <a:t>its CPU, memory and chips.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56448" y="1783080"/>
            <a:ext cx="3520440" cy="2286000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196596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E8590C"/>
                </a:solidFill>
                <a:latin typeface="Helvetica Neue"/>
              </a:rPr>
              <a:t>Storage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359152"/>
            <a:ext cx="30632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5171A"/>
                </a:solidFill>
                <a:latin typeface="Helvetica Neue"/>
              </a:rPr>
              <a:t>gcsfuse CSI, implicit-dirs.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5171A"/>
                </a:solidFill>
                <a:latin typeface="Helvetica Neue"/>
              </a:rPr>
              <a:t>An 8 GB checkpoint read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5171A"/>
                </a:solidFill>
                <a:latin typeface="Helvetica Neue"/>
              </a:rPr>
              <a:t>from a bucket.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5171A"/>
                </a:solidFill>
                <a:latin typeface="Helvetica Neue"/>
              </a:rPr>
              <a:t>The file cache was left as a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5171A"/>
                </a:solidFill>
                <a:latin typeface="Helvetica Neue"/>
              </a:rPr>
              <a:t>knob rather than fixed —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5171A"/>
                </a:solidFill>
                <a:latin typeface="Helvetica Neue"/>
              </a:rPr>
              <a:t>that knob became the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5171A"/>
                </a:solidFill>
                <a:latin typeface="Helvetica Neue"/>
              </a:rPr>
              <a:t>experiment.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66928" y="4343400"/>
          <a:ext cx="11064238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749039"/>
                <a:gridCol w="2194560"/>
                <a:gridCol w="3749039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Backend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Hardware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Host arch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Helvetica Neue"/>
                        </a:rPr>
                        <a:t>How the code got there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CPU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32-core x86_64, 31 GiB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x86_64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bare node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GPU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NVIDIA GH200 480 GB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ARM64 Grace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public image + ConfigMap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TPU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v5e 2×4 — 8 chips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x86_64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>
                          <a:solidFill>
                            <a:srgbClr val="15171A"/>
                          </a:solidFill>
                          <a:latin typeface="Helvetica Neue"/>
                        </a:rPr>
                        <a:t>private registry + gcsfuse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566928" y="598932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 i="1">
                <a:solidFill>
                  <a:srgbClr val="717A85"/>
                </a:solidFill>
                <a:latin typeface="Helvetica Neue"/>
              </a:rPr>
              <a:t>Note the middle row: the GH200's host is ARM64, not x86. That single fact cost us five separate blockers.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45720"/>
            <a:ext cx="1188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200" b="1">
                <a:solidFill>
                  <a:srgbClr val="E6E9EC"/>
                </a:solidFill>
                <a:latin typeface="Helvetica Neue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9601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8590C"/>
                </a:solidFill>
                <a:latin typeface="Helvetica Neue"/>
              </a:rPr>
              <a:t>MEASUREMENTS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3200" b="1" i="0">
                <a:solidFill>
                  <a:srgbClr val="15171A"/>
                </a:solidFill>
                <a:latin typeface="Helvetica Neue"/>
              </a:rPr>
              <a:t>We did not time the job. We took it apart.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484632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Every run takes its own wall clock apart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into six phases — scheduling, image pull,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checkpoint load, XLA compile, the steady-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state steps, checkpoint write.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Batch and sequence sweeps walked until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the job dies. A failed cell is recorded,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never dropped — the boundary is the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measurement.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One schema, one JSON per run. Every figure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here reads those files and nothing else.</a:t>
            </a:r>
          </a:p>
        </p:txBody>
      </p:sp>
      <p:pic>
        <p:nvPicPr>
          <p:cNvPr id="7" name="Picture 6" descr="slide3-wall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828800"/>
            <a:ext cx="5760720" cy="122835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852160" y="3520440"/>
            <a:ext cx="5760720" cy="2148840"/>
          </a:xfrm>
          <a:prstGeom prst="roundRect">
            <a:avLst>
              <a:gd name="adj" fmla="val 4000"/>
            </a:avLst>
          </a:prstGeom>
          <a:solidFill>
            <a:srgbClr val="FEF2F2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44768" y="3730752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DC2626"/>
                </a:solidFill>
                <a:latin typeface="Helvetica Neue"/>
              </a:rPr>
              <a:t>The schema caught a lie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4114800"/>
            <a:ext cx="52120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5171A"/>
                </a:solidFill>
                <a:latin typeface="Helvetica Neue"/>
              </a:rPr>
              <a:t>One run reported 93 µs per step and 11 M tokens/s.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5171A"/>
                </a:solidFill>
                <a:latin typeface="Helvetica Neue"/>
              </a:rPr>
              <a:t>Impossible — yet it carried status "ok".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5171A"/>
                </a:solidFill>
                <a:latin typeface="Helvetica Neue"/>
              </a:rPr>
              <a:t>Its own notes flagged that it may have timed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5171A"/>
                </a:solidFill>
                <a:latin typeface="Helvetica Neue"/>
              </a:rPr>
              <a:t>dispatch, not completion. Discarded, repeated.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45720"/>
            <a:ext cx="1188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200" b="1">
                <a:solidFill>
                  <a:srgbClr val="E6E9EC"/>
                </a:solidFill>
                <a:latin typeface="Helvetica Neue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9601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8590C"/>
                </a:solidFill>
                <a:latin typeface="Helvetica Neue"/>
              </a:rPr>
              <a:t>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3200" b="1" i="0">
                <a:solidFill>
                  <a:srgbClr val="15171A"/>
                </a:solidFill>
                <a:latin typeface="Helvetica Neue"/>
              </a:rPr>
              <a:t>One Hopper chip kept up with eight TPU chips.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664208"/>
          <a:ext cx="6629400" cy="21122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325880"/>
                <a:gridCol w="1463040"/>
                <a:gridCol w="1463040"/>
              </a:tblGrid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 Neue"/>
                        </a:rPr>
                        <a:t>Qwen3-0.6B · bs 1 · seq 1024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Helvetica Neue"/>
                        </a:rPr>
                        <a:t>CPU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Helvetica Neue"/>
                        </a:rPr>
                        <a:t>GPU GH200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Helvetica Neue"/>
                        </a:rPr>
                        <a:t>TPU v5e 2×4</a:t>
                      </a:r>
                    </a:p>
                  </a:txBody>
                  <a:tcPr anchor="ctr" marL="82296" marR="82296" marT="9144" marB="9144">
                    <a:solidFill>
                      <a:srgbClr val="15171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chips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—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E8590C"/>
                          </a:solidFill>
                          <a:latin typeface="Helvetica Neue"/>
                        </a:rPr>
                        <a:t>1</a:t>
                      </a:r>
                    </a:p>
                  </a:txBody>
                  <a:tcPr anchor="ctr" marL="82296" marR="82296" marT="9144" marB="9144">
                    <a:solidFill>
                      <a:srgbClr val="FE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8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median step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18.99 s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E8590C"/>
                          </a:solidFill>
                          <a:latin typeface="Helvetica Neue"/>
                        </a:rPr>
                        <a:t>0.0798 s</a:t>
                      </a:r>
                    </a:p>
                  </a:txBody>
                  <a:tcPr anchor="ctr" marL="82296" marR="82296" marT="9144" marB="9144">
                    <a:solidFill>
                      <a:srgbClr val="FE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0.0800 s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throughput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54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E8590C"/>
                          </a:solidFill>
                          <a:latin typeface="Helvetica Neue"/>
                        </a:rPr>
                        <a:t>12,834</a:t>
                      </a:r>
                    </a:p>
                  </a:txBody>
                  <a:tcPr anchor="ctr" marL="82296" marR="82296" marT="9144" marB="9144">
                    <a:solidFill>
                      <a:srgbClr val="FE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12,804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speedup vs CPU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1.0×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E8590C"/>
                          </a:solidFill>
                          <a:latin typeface="Helvetica Neue"/>
                        </a:rPr>
                        <a:t>238×</a:t>
                      </a:r>
                    </a:p>
                  </a:txBody>
                  <a:tcPr anchor="ctr" marL="82296" marR="82296" marT="9144" marB="9144">
                    <a:solidFill>
                      <a:srgbClr val="FE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237×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peak memory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66 %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E8590C"/>
                          </a:solidFill>
                          <a:latin typeface="Helvetica Neue"/>
                        </a:rPr>
                        <a:t>5.0 %</a:t>
                      </a:r>
                    </a:p>
                  </a:txBody>
                  <a:tcPr anchor="ctr" marL="82296" marR="82296" marT="9144" marB="9144">
                    <a:solidFill>
                      <a:srgbClr val="FE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7.3 %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USD / 1 000 steps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$6.05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E8590C"/>
                          </a:solidFill>
                          <a:latin typeface="Helvetica Neue"/>
                        </a:rPr>
                        <a:t>$0.131</a:t>
                      </a:r>
                    </a:p>
                  </a:txBody>
                  <a:tcPr anchor="ctr" marL="82296" marR="82296" marT="9144" marB="9144">
                    <a:solidFill>
                      <a:srgbClr val="FE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5171A"/>
                          </a:solidFill>
                          <a:latin typeface="Helvetica Neue"/>
                        </a:rPr>
                        <a:t>$1.03</a:t>
                      </a:r>
                    </a:p>
                  </a:txBody>
                  <a:tcPr anchor="ctr" marL="82296" marR="8229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955279" y="1691640"/>
            <a:ext cx="36576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 i="0">
                <a:solidFill>
                  <a:srgbClr val="E8590C"/>
                </a:solidFill>
                <a:latin typeface="Helvetica Neue"/>
              </a:rPr>
              <a:t>0.23 %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2350008"/>
            <a:ext cx="3657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717A85"/>
                </a:solidFill>
                <a:latin typeface="Helvetica Neue"/>
              </a:rPr>
              <a:t>difference in step time between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717A85"/>
                </a:solidFill>
                <a:latin typeface="Helvetica Neue"/>
              </a:rPr>
              <a:t>one GH200 and eight v5e chips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2880360"/>
            <a:ext cx="36576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 i="0">
                <a:solidFill>
                  <a:srgbClr val="E8590C"/>
                </a:solidFill>
                <a:latin typeface="Helvetica Neue"/>
              </a:rPr>
              <a:t>14.6×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3538728"/>
            <a:ext cx="3657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717A85"/>
                </a:solidFill>
                <a:latin typeface="Helvetica Neue"/>
              </a:rPr>
              <a:t>faster checkpoint load from one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717A85"/>
                </a:solidFill>
                <a:latin typeface="Helvetica Neue"/>
              </a:rPr>
              <a:t>manifest line — 31 % off wall clock</a:t>
            </a:r>
          </a:p>
        </p:txBody>
      </p:sp>
      <p:pic>
        <p:nvPicPr>
          <p:cNvPr id="11" name="Picture 10" descr="slide4-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913632"/>
            <a:ext cx="6766560" cy="2829483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955279" y="4160520"/>
            <a:ext cx="3657600" cy="2011680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434340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8590C"/>
                </a:solidFill>
                <a:latin typeface="Helvetica Neue"/>
              </a:rPr>
              <a:t>The control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4681728"/>
            <a:ext cx="3200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15171A"/>
                </a:solidFill>
                <a:latin typeface="Helvetica Neue"/>
              </a:rPr>
              <a:t>Median step time before and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15171A"/>
                </a:solidFill>
                <a:latin typeface="Helvetica Neue"/>
              </a:rPr>
              <a:t>after the cache: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15171A"/>
                </a:solidFill>
                <a:latin typeface="Helvetica Neue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15171A"/>
                </a:solidFill>
                <a:latin typeface="Helvetica Neue"/>
              </a:rPr>
              <a:t>1.75122 s  →  1.75117 s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15171A"/>
                </a:solidFill>
                <a:latin typeface="Helvetica Neue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15171A"/>
                </a:solidFill>
                <a:latin typeface="Helvetica Neue"/>
              </a:rPr>
              <a:t>The computation did not move.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15171A"/>
                </a:solidFill>
                <a:latin typeface="Helvetica Neue"/>
              </a:rPr>
              <a:t>Only I/O did — so the saving is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15171A"/>
                </a:solidFill>
                <a:latin typeface="Helvetica Neue"/>
              </a:rPr>
              <a:t>attributable, not noise.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881360" y="45720"/>
            <a:ext cx="1188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200" b="1">
                <a:solidFill>
                  <a:srgbClr val="E6E9EC"/>
                </a:solidFill>
                <a:latin typeface="Helvetica Neue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65760"/>
            <a:ext cx="9601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8590C"/>
                </a:solidFill>
                <a:latin typeface="Helvetica Neue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8368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3200" b="1" i="0">
                <a:solidFill>
                  <a:srgbClr val="15171A"/>
                </a:solidFill>
                <a:latin typeface="Helvetica Neue"/>
              </a:rPr>
              <a:t>The chip was never the bottleneck.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37360"/>
            <a:ext cx="3520440" cy="2423160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74519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E8590C"/>
                </a:solidFill>
                <a:latin typeface="Helvetica Neue"/>
              </a:rPr>
              <a:t>28 %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450592"/>
            <a:ext cx="3063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5171A"/>
                </a:solidFill>
                <a:latin typeface="Helvetica Neue"/>
              </a:rPr>
              <a:t>of wall clock is arithmetic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880360"/>
            <a:ext cx="3063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Of 733 s, only 209 s computes.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The biggest single phase is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reading the checkpoint.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1688" y="1737360"/>
            <a:ext cx="3520440" cy="2423160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1874519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E8590C"/>
                </a:solidFill>
                <a:latin typeface="Helvetica Neue"/>
              </a:rPr>
              <a:t>6.7×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450592"/>
            <a:ext cx="3063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5171A"/>
                </a:solidFill>
                <a:latin typeface="Helvetica Neue"/>
              </a:rPr>
              <a:t>more parameters — CPU stopped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2880360"/>
            <a:ext cx="3063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0.6B → 4B did not make the CPU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6.7× slower. XLA never finished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compiling; the kernel killed it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at 31.5 GB.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6448" y="1737360"/>
            <a:ext cx="3520440" cy="2423160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1874519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E8590C"/>
                </a:solidFill>
                <a:latin typeface="Helvetica Neue"/>
              </a:rPr>
              <a:t>1 of 36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450592"/>
            <a:ext cx="3063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5171A"/>
                </a:solidFill>
                <a:latin typeface="Helvetica Neue"/>
              </a:rPr>
              <a:t>dependencies were TPU-bound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880360"/>
            <a:ext cx="30632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The GH200 sat idle behind an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ARM64 host, a QEMU segfault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and a registry 403. Swapping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717A85"/>
                </a:solidFill>
                <a:latin typeface="Helvetica Neue"/>
              </a:rPr>
              <a:t>one pin is the whole port.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389120"/>
            <a:ext cx="5394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E8590C"/>
                </a:solidFill>
                <a:latin typeface="Helvetica Neue"/>
              </a:rPr>
              <a:t>Scaling recommendation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736592"/>
            <a:ext cx="53949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Do not scale out — amortise. Raise batch only until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the chip is occupied, then attack fixed cost: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persistent compile caches, warm workers instead of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a pod per job, file cache on anything reading a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5171A"/>
                </a:solidFill>
                <a:latin typeface="Helvetica Neue"/>
              </a:rPr>
              <a:t>checkpoint.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4315968"/>
            <a:ext cx="5394960" cy="1691640"/>
          </a:xfrm>
          <a:prstGeom prst="roundRect">
            <a:avLst>
              <a:gd name="adj" fmla="val 4000"/>
            </a:avLst>
          </a:prstGeom>
          <a:solidFill>
            <a:srgbClr val="FEF3EA"/>
          </a:solidFill>
          <a:ln w="9525">
            <a:solidFill>
              <a:srgbClr val="E6E9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4480560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E8590C"/>
                </a:solidFill>
                <a:latin typeface="Helvetica Neue"/>
              </a:rPr>
              <a:t>What this means for Dr. Findus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828032"/>
            <a:ext cx="49377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>At $0.131 per 1 000 steps on one GH200 —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>8× cheaper than eight TPU chips at the same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>speed — self-hosting is not the cost problem we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>assumed. The real cost is fixed overhead per job: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5171A"/>
                </a:solidFill>
                <a:latin typeface="Helvetica Neue"/>
              </a:rPr>
              <a:t>an architecture decision, not a hardware purchase.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17220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500"/>
              </a:spcAft>
            </a:pPr>
            <a:r>
              <a:rPr sz="1100" b="0" i="0">
                <a:solidFill>
                  <a:srgbClr val="717A85"/>
                </a:solidFill>
                <a:latin typeface="Helvetica Neue"/>
              </a:rPr>
              <a:t>9 measured runs · 15 commits · github.com/RN0L/me344-qwen3-icd10-profiling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
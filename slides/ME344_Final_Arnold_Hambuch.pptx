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5720"/>
            <a:ext cx="1188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0" b="1">
                <a:solidFill>
                  <a:srgbClr val="E6E9EC"/>
                </a:solidFill>
                <a:latin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590C"/>
                </a:solidFill>
                <a:latin typeface="Helvetica Neue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15171A"/>
                </a:solidFill>
                <a:latin typeface="Helvetica Neue"/>
              </a:rPr>
              <a:t>Can a clinic afford to run its own ICD-10 model?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5564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5171A"/>
                </a:solidFill>
                <a:latin typeface="Helvetica Neue"/>
              </a:rPr>
              <a:t>DrFindus, our startup in Berlin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139696"/>
            <a:ext cx="5120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17A85"/>
                </a:solidFill>
                <a:latin typeface="Helvetica Neue"/>
              </a:rPr>
              <a:t>German GPs code every consultation.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17A85"/>
                </a:solidFill>
                <a:latin typeface="Helvetica Neue"/>
              </a:rPr>
              <a:t>We propose, the physician confirms.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17A85"/>
                </a:solidFill>
                <a:latin typeface="Helvetica Neue"/>
              </a:rPr>
              <a:t>Reliability is the product.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717A85"/>
                </a:solidFill>
                <a:latin typeface="Helvetica Neue"/>
              </a:rPr>
              <a:t>Today it runs on hosted APIs.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755648"/>
            <a:ext cx="5623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E8590C"/>
                </a:solidFill>
                <a:latin typeface="Helvetica Neue"/>
              </a:rPr>
              <a:t>Could it run on</a:t>
            </a:r>
          </a:p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E8590C"/>
                </a:solidFill>
                <a:latin typeface="Helvetica Neue"/>
              </a:rPr>
              <a:t>our own hardware?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2761488"/>
            <a:ext cx="5623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Qwen3-4B + LoRA on CodiEsp: 500 train / 250 dev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Spanish case reports, ICD-10 coded, CC-BY 4.0.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803904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E8590C"/>
                </a:solidFill>
                <a:latin typeface="Helvetica Neue"/>
              </a:rPr>
              <a:t>The resource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69663"/>
            <a:ext cx="5394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5171A"/>
                </a:solidFill>
                <a:latin typeface="Helvetica Neue"/>
              </a:rPr>
              <a:t>8 GB of weights at 4B before a single activation.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5171A"/>
                </a:solidFill>
                <a:latin typeface="Helvetica Neue"/>
              </a:rPr>
              <a:t>Median case 802 tokens, longest 2,489.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15171A"/>
                </a:solidFill>
                <a:latin typeface="Helvetica Neue"/>
              </a:rPr>
              <a:t>One JAX program, lowered by XLA to CPU, GPU and TPU.</a:t>
            </a:r>
          </a:p>
        </p:txBody>
      </p:sp>
      <p:pic>
        <p:nvPicPr>
          <p:cNvPr id="12" name="Picture 11" descr="slide1-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675887"/>
            <a:ext cx="5669280" cy="163994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6928" y="5614416"/>
            <a:ext cx="11018520" cy="12700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8521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15171A"/>
                </a:solidFill>
                <a:latin typeface="Helvetica Neue"/>
              </a:rPr>
              <a:t>Where does the time go, and what does it take to run this at all?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5720"/>
            <a:ext cx="1188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0" b="1">
                <a:solidFill>
                  <a:srgbClr val="E6E9EC"/>
                </a:solidFill>
                <a:latin typeface="Helvetica Neue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590C"/>
                </a:solidFill>
                <a:latin typeface="Helvetica Neue"/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15171A"/>
                </a:solidFill>
                <a:latin typeface="Helvetica Neue"/>
              </a:rPr>
              <a:t>One program. Three backends. All measured.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627632"/>
            <a:ext cx="11064240" cy="12700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8590C"/>
                </a:solidFill>
                <a:latin typeface="Helvetica Neue"/>
              </a:rPr>
              <a:t>Compilation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31136"/>
            <a:ext cx="3429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One JAX program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XLA lowers it to all three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LoRA via qwix, Tunix trainer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1792224"/>
            <a:ext cx="12700" cy="1298448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828800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8590C"/>
                </a:solidFill>
                <a:latin typeface="Helvetica Neue"/>
              </a:rPr>
              <a:t>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231136"/>
            <a:ext cx="3429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3 pinned Docker images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Kubernetes across 2 clusters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Kueue admission, explicit limits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73568" y="1792224"/>
            <a:ext cx="12700" cy="1298448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6448" y="1828800"/>
            <a:ext cx="3520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E8590C"/>
                </a:solidFill>
                <a:latin typeface="Helvetica Neue"/>
              </a:rPr>
              <a:t>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231136"/>
            <a:ext cx="3429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gcsfuse CSI, implicit-dirs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8 GB checkpoint from a bucket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File cache left as a knob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93008"/>
            <a:ext cx="11064240" cy="6035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639312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15171A"/>
                </a:solidFill>
                <a:latin typeface="Helvetica Neue"/>
              </a:rPr>
              <a:t>gs://me344-tpu-labs-west4   →   gcsfuse CSI sidecar   →   /gcs in the pod   →   8 GB checkpoint   →   HBM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66928" y="4315968"/>
          <a:ext cx="11064238" cy="1499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749039"/>
                <a:gridCol w="2194560"/>
                <a:gridCol w="3749039"/>
              </a:tblGrid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Backend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Hardware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Host arch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How the code got there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CPU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32-core x86_64, 31 GiB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x86_64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bare node, podman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GPU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NVIDIA GH200 480 GB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ARM64 Grace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public image + ConfigMap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TPU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v5e 2×4, 8 chips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x86_64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private registry + gcsfuse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66928" y="5989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E8590C"/>
                </a:solidFill>
                <a:latin typeface="Helvetica Neue"/>
              </a:rPr>
              <a:t>The GH200 host is ARM64. That one fact cost five separate blockers.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5720"/>
            <a:ext cx="1188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0" b="1">
                <a:solidFill>
                  <a:srgbClr val="E6E9EC"/>
                </a:solidFill>
                <a:latin typeface="Helvetica Neu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590C"/>
                </a:solidFill>
                <a:latin typeface="Helvetica Neue"/>
              </a:rPr>
              <a:t>MEASUREMENTS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15171A"/>
                </a:solidFill>
                <a:latin typeface="Helvetica Neue"/>
              </a:rPr>
              <a:t>We did not time the job. We took it apart.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64208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0632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What we sample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Instrument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Chip utilisation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nvidia-smi 1 Hz · psutil on CPU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Peak memory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jax memory_stats() · peak RSS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Step time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median, p10, p90, warmup excluded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Wall clock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six phases, must sum to total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639312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717A85"/>
                </a:solidFill>
                <a:latin typeface="Helvetica Neue"/>
              </a:rPr>
              <a:t>One schema, one JSON per run. Every figure in this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717A85"/>
                </a:solidFill>
                <a:latin typeface="Helvetica Neue"/>
              </a:rPr>
              <a:t>deck reads those files and nothing else.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133087"/>
            <a:ext cx="5029200" cy="2021819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 w="9525">
            <a:solidFill>
              <a:srgbClr val="E6E9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70831"/>
            <a:ext cx="4553712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DC2626"/>
                </a:solidFill>
                <a:latin typeface="Helvetica Neue"/>
              </a:rPr>
              <a:t>The schema caught a lie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13731"/>
            <a:ext cx="4553712" cy="127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5171A"/>
                </a:solidFill>
                <a:latin typeface="Helvetica Neue"/>
              </a:rPr>
              <a:t>93 µs per step. 11 M tokens/s. Impossible,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5171A"/>
                </a:solidFill>
                <a:latin typeface="Helvetica Neue"/>
              </a:rPr>
              <a:t>yet it carried status "ok".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5171A"/>
                </a:solidFill>
                <a:latin typeface="Helvetica Neue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5171A"/>
                </a:solidFill>
                <a:latin typeface="Helvetica Neue"/>
              </a:rPr>
              <a:t>Its own notes admitted it may have timed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5171A"/>
                </a:solidFill>
                <a:latin typeface="Helvetica Neue"/>
              </a:rPr>
              <a:t>dispatch, not completion. Discarded and re-run.</a:t>
            </a:r>
          </a:p>
        </p:txBody>
      </p:sp>
      <p:pic>
        <p:nvPicPr>
          <p:cNvPr id="11" name="Picture 10" descr="slide3-wall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627632"/>
            <a:ext cx="5760720" cy="1827189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852160" y="3710852"/>
          <a:ext cx="5760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88920"/>
                <a:gridCol w="15087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</a:rPr>
                        <a:t>Backend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</a:rPr>
                        <a:t>Peak memory, largest fitting run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</a:rPr>
                        <a:t>Next step up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CPU 32-core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66.1 % of 31 GiB (RSS)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4B never ran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GH200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67.8 % of 96 GiB HBM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batch 64 OOM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v5e, 8 chips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65.5 % of 16 GiB/chip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5171A"/>
                          </a:solidFill>
                          <a:latin typeface="Helvetica Neue"/>
                        </a:rPr>
                        <a:t>batch 32 OOM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852160" y="5301908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E8590C"/>
                </a:solidFill>
                <a:latin typeface="Helvetica Neue"/>
              </a:rPr>
              <a:t>Memory is what ends every sweep. One batch step past</a:t>
            </a:r>
          </a:p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E8590C"/>
                </a:solidFill>
                <a:latin typeface="Helvetica Neue"/>
              </a:rPr>
              <a:t>these numbers, all three fail.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5720"/>
            <a:ext cx="1188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0" b="1">
                <a:solidFill>
                  <a:srgbClr val="E6E9EC"/>
                </a:solidFill>
                <a:latin typeface="Helvetica Neue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590C"/>
                </a:solidFill>
                <a:latin typeface="Helvetica Neue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15171A"/>
                </a:solidFill>
                <a:latin typeface="Helvetica Neue"/>
              </a:rPr>
              <a:t>Under load, one GH200 beats eight TPU chips.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91056"/>
          <a:ext cx="6903720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554480"/>
                <a:gridCol w="1554480"/>
                <a:gridCol w="1554480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Qwen3-0.6B, batch 1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CPU 32-core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GH200  1 chip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Helvetica Neue"/>
                        </a:rPr>
                        <a:t>v5e  8 chips</a:t>
                      </a:r>
                    </a:p>
                  </a:txBody>
                  <a:tcPr anchor="ctr" marL="82296" marR="82296" marT="9144" marB="9144">
                    <a:solidFill>
                      <a:srgbClr val="15171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Median step time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18.99 s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0.0798 s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0.0800 s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Speedup vs CPU</a:t>
                      </a:r>
                    </a:p>
                  </a:txBody>
                  <a:tcPr anchor="ctr" marL="82296" marR="82296" marT="9144" marB="9144">
                    <a:solidFill>
                      <a:srgbClr val="F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1.0×</a:t>
                      </a:r>
                    </a:p>
                  </a:txBody>
                  <a:tcPr anchor="ctr" marL="82296" marR="82296" marT="9144" marB="9144">
                    <a:solidFill>
                      <a:srgbClr val="F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238×</a:t>
                      </a:r>
                    </a:p>
                  </a:txBody>
                  <a:tcPr anchor="ctr" marL="82296" marR="82296" marT="9144" marB="9144">
                    <a:solidFill>
                      <a:srgbClr val="FEF3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237×</a:t>
                      </a:r>
                    </a:p>
                  </a:txBody>
                  <a:tcPr anchor="ctr" marL="82296" marR="82296" marT="9144" marB="9144">
                    <a:solidFill>
                      <a:srgbClr val="FEF3E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Mean chip utilisation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44.3 %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1.59 %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no counter exists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Peak memory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66.1 %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5.0 %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15171A"/>
                          </a:solidFill>
                          <a:latin typeface="Helvetica Neue"/>
                        </a:rPr>
                        <a:t>7.3 %</a:t>
                      </a:r>
                    </a:p>
                  </a:txBody>
                  <a:tcPr anchor="ctr" marL="82296" marR="8229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433572"/>
            <a:ext cx="6903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15171A"/>
                </a:solidFill>
                <a:latin typeface="Helvetica Neue"/>
              </a:rPr>
              <a:t>Both accelerators are ~238× the CPU and tie with each other to 0.23 %.</a:t>
            </a:r>
          </a:p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15171A"/>
                </a:solidFill>
                <a:latin typeface="Helvetica Neue"/>
              </a:rPr>
              <a:t>At batch 1 neither is busy. That tie is an artefact.</a:t>
            </a:r>
          </a:p>
        </p:txBody>
      </p:sp>
      <p:pic>
        <p:nvPicPr>
          <p:cNvPr id="8" name="Picture 7" descr="slide4-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041648"/>
            <a:ext cx="6903720" cy="18771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26679" y="1591056"/>
            <a:ext cx="3886200" cy="8326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 i="0">
                <a:solidFill>
                  <a:srgbClr val="E8590C"/>
                </a:solidFill>
                <a:latin typeface="Helvetica Neue"/>
              </a:rPr>
              <a:t>2.7x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7" y="2423667"/>
            <a:ext cx="3886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717A85"/>
                </a:solidFill>
                <a:latin typeface="Helvetica Neue"/>
              </a:rPr>
              <a:t>the throughput of an eight-chip v5e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717A85"/>
                </a:solidFill>
                <a:latin typeface="Helvetica Neue"/>
              </a:rPr>
              <a:t>slice, from a single Hopper chip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3163824"/>
            <a:ext cx="3886200" cy="12700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364992"/>
            <a:ext cx="3886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171A"/>
                </a:solidFill>
                <a:latin typeface="Helvetica Neue"/>
              </a:rPr>
              <a:t>Where each one runs out of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3712463"/>
            <a:ext cx="3886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717A85"/>
                </a:solidFill>
                <a:latin typeface="Helvetica Neue"/>
              </a:rPr>
              <a:t>GH200 between batch 32 and 64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717A85"/>
                </a:solidFill>
                <a:latin typeface="Helvetica Neue"/>
              </a:rPr>
              <a:t>v5e between batch 16 and 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4590288"/>
            <a:ext cx="3886200" cy="12700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4791456"/>
            <a:ext cx="3886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5171A"/>
                </a:solidFill>
                <a:latin typeface="Helvetica Neue"/>
              </a:rPr>
              <a:t>The mitigation, controlled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5138928"/>
            <a:ext cx="3886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Checkpoint load 14.6× faster, 31 % off wall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clock, and median step time unchanged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to the fourth decimal.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81360" y="45720"/>
            <a:ext cx="1188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200" b="1">
                <a:solidFill>
                  <a:srgbClr val="E6E9EC"/>
                </a:solidFill>
                <a:latin typeface="Helvetica Neue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E8590C"/>
                </a:solidFill>
                <a:latin typeface="Helvetica Neue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 i="0">
                <a:solidFill>
                  <a:srgbClr val="15171A"/>
                </a:solidFill>
                <a:latin typeface="Helvetica Neue"/>
              </a:rPr>
              <a:t>The chip was never the bottleneck.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4754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0" b="1" i="0">
                <a:solidFill>
                  <a:srgbClr val="E8590C"/>
                </a:solidFill>
                <a:latin typeface="Helvetica Neue"/>
              </a:rPr>
              <a:t>28 %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54096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5171A"/>
                </a:solidFill>
                <a:latin typeface="Helvetica Neue"/>
              </a:rPr>
              <a:t>of the wall clock is arithmetic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4480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Of 733 s, 209 s computes. The largest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single phase is reading the checkpoint: 32 %.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32120" y="1737360"/>
            <a:ext cx="12700" cy="2240280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810512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5171A"/>
                </a:solidFill>
                <a:latin typeface="Helvetica Neue"/>
              </a:rPr>
              <a:t>6.7× more parameters, and the CPU stopped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176272"/>
            <a:ext cx="5577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Not 6.7× slower. XLA never finished compiling, and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without remat the kernel killed it at 31.5 GB.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2999232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5171A"/>
                </a:solidFill>
                <a:latin typeface="Helvetica Neue"/>
              </a:rPr>
              <a:t>1 of 36 dependencies was TPU-bound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364992"/>
            <a:ext cx="5577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The GH200 sat idle behind an ARM64 host, a QEMU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segfault and a registry 403. One pin is the whole 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443984"/>
            <a:ext cx="11018520" cy="12700"/>
          </a:xfrm>
          <a:prstGeom prst="rect">
            <a:avLst/>
          </a:prstGeom>
          <a:solidFill>
            <a:srgbClr val="E6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700016"/>
            <a:ext cx="6035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5171A"/>
                </a:solidFill>
                <a:latin typeface="Helvetica Neue"/>
              </a:rPr>
              <a:t>Do not scale out. Amortise.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5175504"/>
            <a:ext cx="5943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Persistent compile cache  ·  warm workers, not a pod per job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717A85"/>
                </a:solidFill>
                <a:latin typeface="Helvetica Neue"/>
              </a:rPr>
              <a:t>file cache on anything that reads a checkpoint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663440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15171A"/>
                </a:solidFill>
                <a:latin typeface="Helvetica Neue"/>
              </a:rPr>
              <a:t>$0.56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482803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717A85"/>
                </a:solidFill>
                <a:latin typeface="Helvetica Neue"/>
              </a:rPr>
              <a:t>against $5.72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5285232"/>
            <a:ext cx="4023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717A85"/>
                </a:solidFill>
                <a:latin typeface="Helvetica Neue"/>
              </a:rPr>
              <a:t>per 1,000 steps at 4B, batch 8: one GH200</a:t>
            </a:r>
          </a:p>
          <a:p>
            <a:pPr algn="l">
              <a:spcAft>
                <a:spcPts val="300"/>
              </a:spcAft>
            </a:pPr>
            <a:r>
              <a:rPr sz="1250" b="0" i="0">
                <a:solidFill>
                  <a:srgbClr val="717A85"/>
                </a:solidFill>
                <a:latin typeface="Helvetica Neue"/>
              </a:rPr>
              <a:t>against eight v5e chips, 10× less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5961888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717A85"/>
                </a:solidFill>
                <a:latin typeface="Helvetica Neue"/>
              </a:rPr>
              <a:t>TPU rate billed; the GH200 rate is a market proxy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 i="0">
                <a:solidFill>
                  <a:srgbClr val="717A85"/>
                </a:solidFill>
                <a:latin typeface="Helvetica Neue"/>
              </a:rPr>
              <a:t>13 measured runs  ·  github.com/RN0L/qwen3-icd10-scaling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